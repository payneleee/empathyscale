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8" r:id="rId9"/>
    <p:sldId id="266" r:id="rId10"/>
    <p:sldId id="265" r:id="rId11"/>
    <p:sldId id="267" r:id="rId12"/>
    <p:sldId id="269" r:id="rId13"/>
    <p:sldId id="25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53466" autoAdjust="0"/>
  </p:normalViewPr>
  <p:slideViewPr>
    <p:cSldViewPr snapToGrid="0" showGuides="1">
      <p:cViewPr varScale="1">
        <p:scale>
          <a:sx n="75" d="100"/>
          <a:sy n="75" d="100"/>
        </p:scale>
        <p:origin x="72" y="22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ABD55-FB24-4DCD-BF3C-2D7A10CAF48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67FAF-04B3-4E13-852D-00B5DE746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16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Good morning, everyone. We are Team One. To introduce our project, I want you to imagine coming home after a long, stressful day. You are tired and frustrated.</a:t>
            </a:r>
          </a:p>
          <a:p>
            <a:r>
              <a:rPr lang="en-US" altLang="zh-CN" dirty="0"/>
              <a:t>Now, look at this home service robot. </a:t>
            </a:r>
            <a:r>
              <a:rPr lang="en-US" altLang="zh-CN" b="1" dirty="0"/>
              <a:t>[Show Image 3: Annoying Robot]</a:t>
            </a:r>
            <a:r>
              <a:rPr lang="en-US" altLang="zh-CN" dirty="0"/>
              <a:t> Does it just loudly beep at you, completely ignoring your mood and adding to your stress?</a:t>
            </a:r>
          </a:p>
          <a:p>
            <a:r>
              <a:rPr lang="en-US" altLang="zh-CN" b="1" dirty="0"/>
              <a:t>[Advance to Image 4: Helpful Robot]</a:t>
            </a:r>
            <a:r>
              <a:rPr lang="en-US" altLang="zh-CN" dirty="0"/>
              <a:t> OR, does it notice you are tired, quietly stay out of your way, and anticipate your needs—perhaps bringing you your slippers?</a:t>
            </a:r>
          </a:p>
          <a:p>
            <a:r>
              <a:rPr lang="en-US" altLang="zh-CN" dirty="0"/>
              <a:t>This difference is what we call 'Robot Empathy'. It’s not about robots </a:t>
            </a:r>
            <a:r>
              <a:rPr lang="en-US" altLang="zh-CN" i="1" dirty="0"/>
              <a:t>having</a:t>
            </a:r>
            <a:r>
              <a:rPr lang="en-US" altLang="zh-CN" dirty="0"/>
              <a:t> feelings. It’s about robots </a:t>
            </a:r>
            <a:r>
              <a:rPr lang="en-US" altLang="zh-CN" b="1" dirty="0"/>
              <a:t>perceiving your human state and adjusting their behavior</a:t>
            </a:r>
            <a:r>
              <a:rPr lang="en-US" altLang="zh-CN" dirty="0"/>
              <a:t> to support you.</a:t>
            </a:r>
          </a:p>
          <a:p>
            <a:r>
              <a:rPr lang="en-US" altLang="zh-CN" dirty="0"/>
              <a:t>This leads to the core intuition of our project: </a:t>
            </a:r>
            <a:r>
              <a:rPr lang="en-US" altLang="zh-CN" b="1" dirty="0"/>
              <a:t>How can we quantitatively measure this empathy?</a:t>
            </a:r>
            <a:r>
              <a:rPr lang="en-US" altLang="zh-CN" dirty="0"/>
              <a:t> We need a metric to confirm </a:t>
            </a:r>
            <a:r>
              <a:rPr lang="en-US" altLang="zh-CN" i="1" dirty="0"/>
              <a:t>why</a:t>
            </a:r>
            <a:r>
              <a:rPr lang="en-US" altLang="zh-CN" dirty="0"/>
              <a:t> the second behavior is better than the first, and to guide engineers in building robots that become increasingly better at supporting us.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271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measure robot empathy, we rely on </a:t>
            </a:r>
            <a:r>
              <a:rPr lang="en-US" altLang="zh-CN" b="1" dirty="0"/>
              <a:t>Perceived Empathy</a:t>
            </a:r>
            <a:r>
              <a:rPr lang="en-US" altLang="zh-CN" dirty="0"/>
              <a:t>—asking users how they feel via questionnaires, after interacted with robot. </a:t>
            </a:r>
          </a:p>
          <a:p>
            <a:r>
              <a:rPr lang="en-US" altLang="zh-CN" dirty="0"/>
              <a:t>But we face a dilemma. Existing generic scales, like </a:t>
            </a:r>
            <a:r>
              <a:rPr lang="en-US" altLang="zh-CN" b="1" dirty="0"/>
              <a:t>PETS</a:t>
            </a:r>
            <a:r>
              <a:rPr lang="en-US" altLang="zh-CN" dirty="0"/>
              <a:t> and </a:t>
            </a:r>
            <a:r>
              <a:rPr lang="en-US" altLang="zh-CN" b="1" dirty="0" err="1"/>
              <a:t>RoPE</a:t>
            </a:r>
            <a:r>
              <a:rPr lang="en-US" altLang="zh-CN" dirty="0"/>
              <a:t>, are often too broad. They ask: </a:t>
            </a:r>
            <a:r>
              <a:rPr lang="en-US" altLang="zh-CN" i="1" dirty="0"/>
              <a:t>'Did the robot understand me?'</a:t>
            </a:r>
            <a:r>
              <a:rPr lang="en-US" altLang="zh-CN" dirty="0"/>
              <a:t> But this misses the details. Empathy for a </a:t>
            </a:r>
            <a:r>
              <a:rPr lang="en-US" altLang="zh-CN" b="1" dirty="0"/>
              <a:t>factory arm</a:t>
            </a:r>
            <a:r>
              <a:rPr lang="en-US" altLang="zh-CN" dirty="0"/>
              <a:t> means </a:t>
            </a:r>
            <a:r>
              <a:rPr lang="en-US" altLang="zh-CN" i="1" dirty="0"/>
              <a:t>safety</a:t>
            </a:r>
            <a:r>
              <a:rPr lang="en-US" altLang="zh-CN" dirty="0"/>
              <a:t>, while for a </a:t>
            </a:r>
            <a:r>
              <a:rPr lang="en-US" altLang="zh-CN" b="1" dirty="0"/>
              <a:t>home robot</a:t>
            </a:r>
            <a:r>
              <a:rPr lang="en-US" altLang="zh-CN" dirty="0"/>
              <a:t>, it means </a:t>
            </a:r>
            <a:r>
              <a:rPr lang="en-US" altLang="zh-CN" i="1" dirty="0"/>
              <a:t>care</a:t>
            </a:r>
            <a:r>
              <a:rPr lang="en-US" altLang="zh-CN" dirty="0"/>
              <a:t>. As we can see, the expression of empathy highly depends on the platform, the task, and the environment. </a:t>
            </a:r>
          </a:p>
          <a:p>
            <a:r>
              <a:rPr lang="en-US" altLang="zh-CN" dirty="0"/>
              <a:t>To capture these differences, we need custom scales. </a:t>
            </a:r>
          </a:p>
          <a:p>
            <a:r>
              <a:rPr lang="en-US" altLang="zh-CN" dirty="0"/>
              <a:t>The widely accepted standard for developing them is the </a:t>
            </a:r>
            <a:r>
              <a:rPr lang="en-US" altLang="zh-CN" b="1" dirty="0"/>
              <a:t>Boateng Nine-Step Method</a:t>
            </a:r>
            <a:r>
              <a:rPr lang="en-US" altLang="zh-CN" dirty="0"/>
              <a:t>. While rigorous, this manual process is slow and costly, often taking months to complete. </a:t>
            </a:r>
          </a:p>
          <a:p>
            <a:r>
              <a:rPr lang="en-US" altLang="zh-CN" b="1" dirty="0"/>
              <a:t>This is our opportunity.</a:t>
            </a:r>
            <a:r>
              <a:rPr lang="en-US" altLang="zh-CN" dirty="0"/>
              <a:t> Inspired by Multi-Agent systems, our goal is to </a:t>
            </a:r>
            <a:r>
              <a:rPr lang="en-US" altLang="zh-CN" b="1" dirty="0"/>
              <a:t>automate this rigorous framework</a:t>
            </a:r>
            <a:r>
              <a:rPr lang="en-US" altLang="zh-CN" dirty="0"/>
              <a:t>. We aim to generate high-quality, scenario-specific scales in </a:t>
            </a:r>
            <a:r>
              <a:rPr lang="en-US" altLang="zh-CN" b="1" dirty="0"/>
              <a:t>hours, not months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157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Look at the top track. This is the traditional way. It’s rigorous, but incredibly heavy on human resources. Take the </a:t>
            </a:r>
            <a:r>
              <a:rPr lang="en-US" altLang="zh-CN" b="1" dirty="0"/>
              <a:t>PETS scale</a:t>
            </a:r>
            <a:r>
              <a:rPr lang="en-US" altLang="zh-CN" dirty="0"/>
              <a:t> (published in CHI 2024) as a prime example of this standard:</a:t>
            </a:r>
          </a:p>
          <a:p>
            <a:r>
              <a:rPr lang="en-US" altLang="zh-CN" b="1" dirty="0"/>
              <a:t>For Phase 1 (Item Development):</a:t>
            </a:r>
            <a:r>
              <a:rPr lang="en-US" altLang="zh-CN" dirty="0"/>
              <a:t> The authors didn't just write questions. They interviewed </a:t>
            </a:r>
            <a:r>
              <a:rPr lang="en-US" altLang="zh-CN" b="1" dirty="0"/>
              <a:t>18 experts</a:t>
            </a:r>
            <a:r>
              <a:rPr lang="en-US" altLang="zh-CN" dirty="0"/>
              <a:t> to generate an initial pool of </a:t>
            </a:r>
            <a:r>
              <a:rPr lang="en-US" altLang="zh-CN" b="1" dirty="0"/>
              <a:t>100 items</a:t>
            </a:r>
            <a:r>
              <a:rPr lang="en-US" altLang="zh-CN" dirty="0"/>
              <a:t>. Then, expert panels filtered these down to </a:t>
            </a:r>
            <a:r>
              <a:rPr lang="en-US" altLang="zh-CN" b="1" dirty="0"/>
              <a:t>38 candidates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For Phases 2 &amp; 3 (Scale Evaluation):</a:t>
            </a:r>
            <a:r>
              <a:rPr lang="en-US" altLang="zh-CN" dirty="0"/>
              <a:t> To statistically validate those items, they couldn't just guess. They had to recruit </a:t>
            </a:r>
            <a:r>
              <a:rPr lang="en-US" altLang="zh-CN" b="1" dirty="0"/>
              <a:t>324 participants</a:t>
            </a:r>
            <a:r>
              <a:rPr lang="en-US" altLang="zh-CN" dirty="0"/>
              <a:t> for the first round (EFA) and another </a:t>
            </a:r>
            <a:r>
              <a:rPr lang="en-US" altLang="zh-CN" b="1" dirty="0"/>
              <a:t>396 participants</a:t>
            </a:r>
            <a:r>
              <a:rPr lang="en-US" altLang="zh-CN" dirty="0"/>
              <a:t> for the second round (CFA) to finally reach their </a:t>
            </a:r>
            <a:r>
              <a:rPr lang="en-US" altLang="zh-CN" b="1" dirty="0"/>
              <a:t>10-item scale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Coordinate </a:t>
            </a:r>
            <a:r>
              <a:rPr lang="en-US" altLang="zh-CN" b="1" dirty="0"/>
              <a:t>30 experts</a:t>
            </a:r>
            <a:r>
              <a:rPr lang="en-US" altLang="zh-CN" dirty="0"/>
              <a:t>, recruit </a:t>
            </a:r>
            <a:r>
              <a:rPr lang="en-US" altLang="zh-CN" b="1" dirty="0"/>
              <a:t>over 700 participants</a:t>
            </a:r>
            <a:r>
              <a:rPr lang="en-US" altLang="zh-CN" dirty="0"/>
              <a:t>, and analyze data for months—that is the cost of rigor.</a:t>
            </a:r>
          </a:p>
          <a:p>
            <a:r>
              <a:rPr lang="en-US" altLang="zh-CN" b="1" dirty="0"/>
              <a:t>[</a:t>
            </a:r>
            <a:r>
              <a:rPr lang="zh-CN" altLang="en-US" b="1" dirty="0"/>
              <a:t>配合动作：手势指向图表下半部分 </a:t>
            </a:r>
            <a:r>
              <a:rPr lang="en-US" altLang="zh-CN" b="1" dirty="0"/>
              <a:t>(</a:t>
            </a:r>
            <a:r>
              <a:rPr lang="zh-CN" altLang="en-US" b="1" dirty="0"/>
              <a:t>蓝色区域 </a:t>
            </a:r>
            <a:r>
              <a:rPr lang="en-US" altLang="zh-CN" b="1" dirty="0"/>
              <a:t>- Practice)]</a:t>
            </a:r>
            <a:endParaRPr lang="en-US" altLang="zh-CN" dirty="0"/>
          </a:p>
          <a:p>
            <a:r>
              <a:rPr lang="en-US" altLang="zh-CN" dirty="0"/>
              <a:t>Now, look at our bottom track. We mapped those exact steps to AI Agents, operating at a massive scale:</a:t>
            </a:r>
          </a:p>
          <a:p>
            <a:r>
              <a:rPr lang="en-US" altLang="zh-CN" b="1" dirty="0"/>
              <a:t>Instead of interviewing 18 experts</a:t>
            </a:r>
            <a:r>
              <a:rPr lang="en-US" altLang="zh-CN" dirty="0"/>
              <a:t>, our Generator Agents instantly create a massive pool of </a:t>
            </a:r>
            <a:r>
              <a:rPr lang="en-US" altLang="zh-CN" i="1" dirty="0"/>
              <a:t>[e.g., over 100] initial items</a:t>
            </a:r>
            <a:r>
              <a:rPr lang="en-US" altLang="zh-CN" dirty="0"/>
              <a:t>*.</a:t>
            </a:r>
          </a:p>
          <a:p>
            <a:r>
              <a:rPr lang="en-US" altLang="zh-CN" b="1" dirty="0"/>
              <a:t>Instead of human panels</a:t>
            </a:r>
            <a:r>
              <a:rPr lang="en-US" altLang="zh-CN" dirty="0"/>
              <a:t>, our 'Expert Judge' Agent rigorously filters this pool down to the best </a:t>
            </a:r>
            <a:r>
              <a:rPr lang="en-US" altLang="zh-CN" i="1" dirty="0"/>
              <a:t>[e.g., 40] candidates</a:t>
            </a:r>
            <a:r>
              <a:rPr lang="en-US" altLang="zh-CN" dirty="0"/>
              <a:t>* based on strict criteria.</a:t>
            </a:r>
          </a:p>
          <a:p>
            <a:r>
              <a:rPr lang="en-US" altLang="zh-CN" b="1" dirty="0"/>
              <a:t>Instead of recruiting 700 humans</a:t>
            </a:r>
            <a:r>
              <a:rPr lang="en-US" altLang="zh-CN" dirty="0"/>
              <a:t>, we deploy </a:t>
            </a:r>
            <a:r>
              <a:rPr lang="en-US" altLang="zh-CN" i="1" dirty="0"/>
              <a:t>[e.g., 300] distinct simulated Personas</a:t>
            </a:r>
            <a:r>
              <a:rPr lang="en-US" altLang="zh-CN" dirty="0"/>
              <a:t>* to instantly generate the statistical data needed for EFA and CFA.</a:t>
            </a:r>
          </a:p>
          <a:p>
            <a:r>
              <a:rPr lang="en-US" altLang="zh-CN" b="1" dirty="0"/>
              <a:t>[Summary]</a:t>
            </a:r>
            <a:r>
              <a:rPr lang="en-US" altLang="zh-CN" dirty="0"/>
              <a:t> We maintain the </a:t>
            </a:r>
            <a:r>
              <a:rPr lang="en-US" altLang="zh-CN" b="1" dirty="0"/>
              <a:t>scientific rigor</a:t>
            </a:r>
            <a:r>
              <a:rPr lang="en-US" altLang="zh-CN" dirty="0"/>
              <a:t> of the Boateng method, but we compress the </a:t>
            </a:r>
            <a:r>
              <a:rPr lang="en-US" altLang="zh-CN" b="1" dirty="0"/>
              <a:t>timeline</a:t>
            </a:r>
            <a:r>
              <a:rPr lang="en-US" altLang="zh-CN" dirty="0"/>
              <a:t> from months to hours."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148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E640D-FCD1-795E-F156-47CE8CC8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6B5F48-465F-1724-BC49-98AF79380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4A1C16-344A-9C57-9A56-962B7AFF8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"So, how do we evaluate if our generated scale is actually effective? Currently, we focus on two simple but critical criteria to validate our initial version.</a:t>
            </a:r>
          </a:p>
          <a:p>
            <a:r>
              <a:rPr lang="en-US" altLang="zh-CN" b="1" dirty="0"/>
              <a:t>[Gesture: First finger]</a:t>
            </a:r>
            <a:r>
              <a:rPr lang="en-US" altLang="zh-CN" dirty="0"/>
              <a:t> First is </a:t>
            </a:r>
            <a:r>
              <a:rPr lang="en-US" altLang="zh-CN" b="1" dirty="0"/>
              <a:t>Internal Consistency</a:t>
            </a:r>
            <a:r>
              <a:rPr lang="en-US" altLang="zh-CN" dirty="0"/>
              <a:t>. In plain English, this checks: </a:t>
            </a:r>
            <a:r>
              <a:rPr lang="en-US" altLang="zh-CN" b="1" dirty="0"/>
              <a:t>Do the questions agree with each other?</a:t>
            </a:r>
            <a:r>
              <a:rPr lang="en-US" altLang="zh-CN" dirty="0"/>
              <a:t> If a user rates the robot as 'kind', they should also rate it as 'caring'. If the answers contradict each other, the scale is unstable.</a:t>
            </a:r>
          </a:p>
          <a:p>
            <a:r>
              <a:rPr lang="en-US" altLang="zh-CN" b="1" dirty="0"/>
              <a:t>[Gesture: Second finger]</a:t>
            </a:r>
            <a:r>
              <a:rPr lang="en-US" altLang="zh-CN" dirty="0"/>
              <a:t> Second is </a:t>
            </a:r>
            <a:r>
              <a:rPr lang="en-US" altLang="zh-CN" b="1" dirty="0"/>
              <a:t>Discriminant Ability</a:t>
            </a:r>
            <a:r>
              <a:rPr lang="en-US" altLang="zh-CN" dirty="0"/>
              <a:t>. This is the sensitivity test: </a:t>
            </a:r>
            <a:r>
              <a:rPr lang="en-US" altLang="zh-CN" b="1" dirty="0"/>
              <a:t>Can the scale actually tell the difference between an 'empathic' robot and a 'non-empathic' one?</a:t>
            </a:r>
            <a:endParaRPr lang="en-US" altLang="zh-CN" dirty="0"/>
          </a:p>
          <a:p>
            <a:r>
              <a:rPr lang="en-US" altLang="zh-CN" b="1" dirty="0"/>
              <a:t>[Gesture: Point to the bottom experiment diagram]</a:t>
            </a:r>
            <a:r>
              <a:rPr lang="en-US" altLang="zh-CN" dirty="0"/>
              <a:t> To test this </a:t>
            </a:r>
            <a:r>
              <a:rPr lang="en-US" altLang="zh-CN" i="1" dirty="0"/>
              <a:t>without</a:t>
            </a:r>
            <a:r>
              <a:rPr lang="en-US" altLang="zh-CN" dirty="0"/>
              <a:t> waiting months for a user study, we designed a </a:t>
            </a:r>
            <a:r>
              <a:rPr lang="en-US" altLang="zh-CN" b="1" dirty="0"/>
              <a:t>Digital Control Experiment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We generated two interaction histories: one where the robot is </a:t>
            </a:r>
            <a:r>
              <a:rPr lang="en-US" altLang="zh-CN" b="1" dirty="0"/>
              <a:t>Warm and Supportive</a:t>
            </a:r>
            <a:r>
              <a:rPr lang="en-US" altLang="zh-CN" dirty="0"/>
              <a:t>, and one where it is </a:t>
            </a:r>
            <a:r>
              <a:rPr lang="en-US" altLang="zh-CN" b="1" dirty="0"/>
              <a:t>Cold and Indifferent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Then, we had our </a:t>
            </a:r>
            <a:r>
              <a:rPr lang="en-US" altLang="zh-CN" b="1" dirty="0"/>
              <a:t>Simulated Personas</a:t>
            </a:r>
            <a:r>
              <a:rPr lang="en-US" altLang="zh-CN" dirty="0"/>
              <a:t> evaluate both using our scale.</a:t>
            </a:r>
          </a:p>
          <a:p>
            <a:r>
              <a:rPr lang="en-US" altLang="zh-CN" b="1" dirty="0"/>
              <a:t>[Tone: Humble and Objective]</a:t>
            </a:r>
            <a:r>
              <a:rPr lang="en-US" altLang="zh-CN" dirty="0"/>
              <a:t> If the scale is valid, it </a:t>
            </a:r>
            <a:r>
              <a:rPr lang="en-US" altLang="zh-CN" i="1" dirty="0"/>
              <a:t>must</a:t>
            </a:r>
            <a:r>
              <a:rPr lang="en-US" altLang="zh-CN" dirty="0"/>
              <a:t> give significantly different scores to these two scenarios. While we are using this </a:t>
            </a:r>
            <a:r>
              <a:rPr lang="en-US" altLang="zh-CN" b="1" dirty="0"/>
              <a:t>In-Silico approach</a:t>
            </a:r>
            <a:r>
              <a:rPr lang="en-US" altLang="zh-CN" dirty="0"/>
              <a:t> for rapid, high-volume validation right now, we fully recognize that a </a:t>
            </a:r>
            <a:r>
              <a:rPr lang="en-US" altLang="zh-CN" b="1" dirty="0"/>
              <a:t>Human User Study</a:t>
            </a:r>
            <a:r>
              <a:rPr lang="en-US" altLang="zh-CN" dirty="0"/>
              <a:t> will be the essential next step to confirm these findings in the real world."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7A6C8A-0094-3239-BC0C-03BD8AC2C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007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"To ensure generalizability, we validated our system across three distinct domains:</a:t>
            </a:r>
          </a:p>
          <a:p>
            <a:r>
              <a:rPr lang="en-US" altLang="zh-CN" b="1" dirty="0"/>
              <a:t>[Gesture: Left, Middle, Right]</a:t>
            </a:r>
            <a:endParaRPr lang="en-US" altLang="zh-CN" dirty="0"/>
          </a:p>
          <a:p>
            <a:r>
              <a:rPr lang="en-US" altLang="zh-CN" b="1" dirty="0"/>
              <a:t>Industrial:</a:t>
            </a:r>
            <a:r>
              <a:rPr lang="en-US" altLang="zh-CN" dirty="0"/>
              <a:t> A collaborative arm in a factory, where empathy translates to </a:t>
            </a:r>
            <a:r>
              <a:rPr lang="en-US" altLang="zh-CN" b="1" dirty="0"/>
              <a:t>Safety and Adaptive Pacing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Domestic:</a:t>
            </a:r>
            <a:r>
              <a:rPr lang="en-US" altLang="zh-CN" dirty="0"/>
              <a:t> A mobile home robot, focusing on </a:t>
            </a:r>
            <a:r>
              <a:rPr lang="en-US" altLang="zh-CN" b="1" dirty="0"/>
              <a:t>Comfort and Care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Clinical:</a:t>
            </a:r>
            <a:r>
              <a:rPr lang="en-US" altLang="zh-CN" dirty="0"/>
              <a:t> A text-based counseling chatbot, prioritizing </a:t>
            </a:r>
            <a:r>
              <a:rPr lang="en-US" altLang="zh-CN" b="1" dirty="0"/>
              <a:t>Emotional Attunement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[Summary]</a:t>
            </a:r>
            <a:r>
              <a:rPr lang="en-US" altLang="zh-CN" dirty="0"/>
              <a:t> From heavy machinery to text therapy, we deployed 'Empathic vs. Non-Empathic' scenarios in </a:t>
            </a:r>
            <a:r>
              <a:rPr lang="en-US" altLang="zh-CN" i="1" dirty="0"/>
              <a:t>each</a:t>
            </a:r>
            <a:r>
              <a:rPr lang="en-US" altLang="zh-CN" dirty="0"/>
              <a:t> context, proving our scale works regardless of the platform."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724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08C1-C6F5-6C36-520C-79F1F632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FF9585-6BD1-D88C-B6A9-16026D98A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5A78A1-F97D-4E16-055C-557233CEA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[Gesture to top row scenarios]</a:t>
            </a:r>
            <a:r>
              <a:rPr lang="en-US" altLang="zh-CN" dirty="0"/>
              <a:t> "We validated our system across Factory, Home, and Counseling scenarios. As shown at the top, every generated scale achieved excellent quality scores."</a:t>
            </a:r>
          </a:p>
          <a:p>
            <a:r>
              <a:rPr lang="en-US" altLang="zh-CN" b="1" dirty="0"/>
              <a:t>[Gesture to bottom charts]</a:t>
            </a:r>
            <a:r>
              <a:rPr lang="en-US" altLang="zh-CN" dirty="0"/>
              <a:t> “Comparing this to the human gold standard, PETS (shown in blue) and </a:t>
            </a:r>
            <a:r>
              <a:rPr lang="en-US" altLang="zh-CN" dirty="0" err="1"/>
              <a:t>RoPE</a:t>
            </a:r>
            <a:r>
              <a:rPr lang="en-US" altLang="zh-CN" dirty="0"/>
              <a:t> (shown in red</a:t>
            </a:r>
            <a:r>
              <a:rPr lang="zh-CN" altLang="en-US" dirty="0"/>
              <a:t>）</a:t>
            </a:r>
            <a:r>
              <a:rPr lang="en-US" altLang="zh-CN" dirty="0"/>
              <a:t>:"</a:t>
            </a:r>
          </a:p>
          <a:p>
            <a:r>
              <a:rPr lang="en-US" altLang="zh-CN" b="1" dirty="0"/>
              <a:t>[Gesture to bottom-left chart]</a:t>
            </a:r>
            <a:r>
              <a:rPr lang="en-US" altLang="zh-CN" dirty="0"/>
              <a:t> "On the left, for </a:t>
            </a:r>
            <a:r>
              <a:rPr lang="en-US" altLang="zh-CN" b="1" dirty="0"/>
              <a:t>Reliability</a:t>
            </a:r>
            <a:r>
              <a:rPr lang="en-US" altLang="zh-CN" dirty="0"/>
              <a:t>, we consistently stay above 0.99, significantly outperforming the baseline."</a:t>
            </a:r>
          </a:p>
          <a:p>
            <a:r>
              <a:rPr lang="en-US" altLang="zh-CN" b="1" dirty="0"/>
              <a:t>[Gesture to bottom-right chart]</a:t>
            </a:r>
            <a:r>
              <a:rPr lang="en-US" altLang="zh-CN" dirty="0"/>
              <a:t> "On the right, for </a:t>
            </a:r>
            <a:r>
              <a:rPr lang="en-US" altLang="zh-CN" b="1" dirty="0"/>
              <a:t>Sensitivity</a:t>
            </a:r>
            <a:r>
              <a:rPr lang="en-US" altLang="zh-CN" dirty="0"/>
              <a:t>, while standard scales hover around 2.0, we reached 4.6 in Factory, and a massive 15.4 in Counseling."</a:t>
            </a:r>
          </a:p>
          <a:p>
            <a:r>
              <a:rPr lang="en-US" altLang="zh-CN" b="1" dirty="0"/>
              <a:t>[Face audience]</a:t>
            </a:r>
            <a:r>
              <a:rPr lang="en-US" altLang="zh-CN" dirty="0"/>
              <a:t> "This confirms that scenario-specific generation is far superior to generic human scales."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51DCB1-32F0-28D4-F62E-4708BE3DC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050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you can see, PETS relies on abstract concepts like 'sympathizing' or 'showing interest.' While valid, it's vague for a factory worker. Our generated scale translates empathy into </a:t>
            </a:r>
            <a:r>
              <a:rPr lang="en-US" altLang="zh-CN" b="1" dirty="0"/>
              <a:t>concrete actions</a:t>
            </a:r>
            <a:r>
              <a:rPr lang="en-US" altLang="zh-CN" dirty="0"/>
              <a:t>: ensuring safety, proactively solving problems, and checking progress. This specific granularity leads to the higher construct validity we saw in the previous slide."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870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4B9D-82B0-523B-6218-6877BF0D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DC8620-39A6-62ED-ECFA-BE5844D87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FF0C04-902B-D173-EDF1-4C2EBEEE8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 why is our performance so high? We answer this through </a:t>
            </a:r>
            <a:r>
              <a:rPr lang="en-US" altLang="zh-CN" b="1" dirty="0"/>
              <a:t>Architecture</a:t>
            </a:r>
            <a:r>
              <a:rPr lang="en-US" altLang="zh-CN" dirty="0"/>
              <a:t> and </a:t>
            </a:r>
            <a:r>
              <a:rPr lang="en-US" altLang="zh-CN" b="1" dirty="0"/>
              <a:t>Content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[Gesture to Left Chart - Ablation]</a:t>
            </a:r>
            <a:r>
              <a:rPr lang="en-US" altLang="zh-CN" dirty="0"/>
              <a:t> On the left, our </a:t>
            </a:r>
            <a:r>
              <a:rPr lang="en-US" altLang="zh-CN" b="1" dirty="0"/>
              <a:t>Ablation Study</a:t>
            </a:r>
            <a:r>
              <a:rPr lang="en-US" altLang="zh-CN" dirty="0"/>
              <a:t> proves that our Multi-Agent complexity is essential. When we removed the 'Expert Judge' or reduced the diversity of Generators, the scale's sensitivity dropped by over </a:t>
            </a:r>
            <a:r>
              <a:rPr lang="en-US" altLang="zh-CN" b="1" dirty="0"/>
              <a:t>50%</a:t>
            </a:r>
            <a:r>
              <a:rPr lang="en-US" altLang="zh-CN" dirty="0"/>
              <a:t> (from 4.6 down to ~2.2). This confirms that our rigorous filtering process is the key to quality.</a:t>
            </a:r>
          </a:p>
          <a:p>
            <a:r>
              <a:rPr lang="en-US" altLang="zh-CN" b="1" dirty="0"/>
              <a:t>[Gesture to Right Section - Case Study]</a:t>
            </a:r>
            <a:r>
              <a:rPr lang="en-US" altLang="zh-CN" dirty="0"/>
              <a:t> On the right, you see the result: </a:t>
            </a:r>
            <a:r>
              <a:rPr lang="en-US" altLang="zh-CN" b="1" dirty="0"/>
              <a:t>Concrete, Observable Items</a:t>
            </a:r>
            <a:r>
              <a:rPr lang="en-US" altLang="zh-CN" dirty="0"/>
              <a:t>. In the Factory scenario, the system didn't generate generic fluff. It identified specific factors like </a:t>
            </a:r>
            <a:r>
              <a:rPr lang="en-US" altLang="zh-CN" b="1" dirty="0"/>
              <a:t>'Proactive Support'</a:t>
            </a:r>
            <a:r>
              <a:rPr lang="en-US" altLang="zh-CN" dirty="0"/>
              <a:t> and </a:t>
            </a:r>
            <a:r>
              <a:rPr lang="en-US" altLang="zh-CN" b="1" dirty="0"/>
              <a:t>'Safety Awareness'</a:t>
            </a:r>
            <a:r>
              <a:rPr lang="en-US" altLang="zh-CN" dirty="0"/>
              <a:t>, ensuring the scale is tailored exactly to the collaborative task."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7C6129-E24E-00D8-64EA-B49DAB5DE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279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"Moving to insights: </a:t>
            </a:r>
            <a:r>
              <a:rPr lang="en-US" altLang="zh-CN" b="1" dirty="0"/>
              <a:t>First, Complexity is vital.</a:t>
            </a:r>
            <a:r>
              <a:rPr lang="en-US" altLang="zh-CN" dirty="0"/>
              <a:t> Our tests showed simple models fail; only the multi-agent collaboration achieves the necessary sensitivity. </a:t>
            </a:r>
            <a:r>
              <a:rPr lang="en-US" altLang="zh-CN" b="1" dirty="0"/>
              <a:t>Second, Context works.</a:t>
            </a:r>
            <a:r>
              <a:rPr lang="en-US" altLang="zh-CN" dirty="0"/>
              <a:t> The system correctly identifies that 'empathy' means </a:t>
            </a:r>
            <a:r>
              <a:rPr lang="en-US" altLang="zh-CN" i="1" dirty="0"/>
              <a:t>safety</a:t>
            </a:r>
            <a:r>
              <a:rPr lang="en-US" altLang="zh-CN" dirty="0"/>
              <a:t> in factories, but </a:t>
            </a:r>
            <a:r>
              <a:rPr lang="en-US" altLang="zh-CN" i="1" dirty="0"/>
              <a:t>care</a:t>
            </a:r>
            <a:r>
              <a:rPr lang="en-US" altLang="zh-CN" dirty="0"/>
              <a:t> at home.</a:t>
            </a:r>
          </a:p>
          <a:p>
            <a:r>
              <a:rPr lang="en-US" altLang="zh-CN" b="1" dirty="0"/>
              <a:t>The Limitation?</a:t>
            </a:r>
            <a:r>
              <a:rPr lang="en-US" altLang="zh-CN" dirty="0"/>
              <a:t> It's currently </a:t>
            </a:r>
            <a:r>
              <a:rPr lang="en-US" altLang="zh-CN" b="1" dirty="0"/>
              <a:t>simulation-only</a:t>
            </a:r>
            <a:r>
              <a:rPr lang="en-US" altLang="zh-CN" dirty="0"/>
              <a:t>. We have strong feasibility signals from AI personas, but we still lack real-world human validation. That is our next step."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5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"Finally, we have identified three key directions to mature this work:</a:t>
            </a:r>
            <a:br>
              <a:rPr lang="en-US" altLang="zh-CN" b="1" dirty="0"/>
            </a:br>
            <a:r>
              <a:rPr lang="en-US" altLang="zh-CN" b="1" dirty="0"/>
              <a:t>First is Self-Refinement.</a:t>
            </a:r>
            <a:r>
              <a:rPr lang="en-US" altLang="zh-CN" dirty="0"/>
              <a:t> currently, our generation is a one-pass process. We plan to add a feedback loop. If the generated items don't meet our diversity or quality metrics, the system should automatically reject and re-generate them until they are perfect.</a:t>
            </a:r>
          </a:p>
          <a:p>
            <a:r>
              <a:rPr lang="en-US" altLang="zh-CN" b="1" dirty="0"/>
              <a:t>Second is Embodied Validation.</a:t>
            </a:r>
            <a:r>
              <a:rPr lang="en-US" altLang="zh-CN" dirty="0"/>
              <a:t> We need to prove this tool works in reality. We will conduct user studies with </a:t>
            </a:r>
            <a:r>
              <a:rPr lang="en-US" altLang="zh-CN" b="1" dirty="0"/>
              <a:t>physical robots</a:t>
            </a:r>
            <a:r>
              <a:rPr lang="en-US" altLang="zh-CN" dirty="0"/>
              <a:t> in the specific scenarios we defined. By comparing human feedback against our system's output, we can validate that this </a:t>
            </a:r>
            <a:r>
              <a:rPr lang="en-US" altLang="zh-CN" i="1" dirty="0"/>
              <a:t>method</a:t>
            </a:r>
            <a:r>
              <a:rPr lang="en-US" altLang="zh-CN" dirty="0"/>
              <a:t> of generating scales is reliable for real-world HRI.</a:t>
            </a:r>
          </a:p>
          <a:p>
            <a:r>
              <a:rPr lang="en-US" altLang="zh-CN" b="1" dirty="0"/>
              <a:t>Third is Consistency.</a:t>
            </a:r>
            <a:r>
              <a:rPr lang="en-US" altLang="zh-CN" dirty="0"/>
              <a:t> Since LLMs can be stochastic, we aim to improve the system's stability, ensuring that if you run the same scenario twice, you get a structurally consistent scale, which is crucial for standardizing research tools.</a:t>
            </a:r>
          </a:p>
          <a:p>
            <a:r>
              <a:rPr lang="en-US" altLang="zh-CN" dirty="0"/>
              <a:t>Thank you for listening, and we are happy to take any questions."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000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First, let's look at the engineering behind </a:t>
            </a:r>
            <a:r>
              <a:rPr lang="en-US" altLang="zh-CN" dirty="0" err="1"/>
              <a:t>EmpathyScale</a:t>
            </a:r>
            <a:r>
              <a:rPr lang="en-US" altLang="zh-CN" dirty="0"/>
              <a:t>. We built a </a:t>
            </a:r>
            <a:r>
              <a:rPr lang="en-US" altLang="zh-CN" b="1" dirty="0"/>
              <a:t>Modular Multi-Agent Architecture</a:t>
            </a:r>
            <a:r>
              <a:rPr lang="en-US" altLang="zh-CN" dirty="0"/>
              <a:t>. Instead of a single black-box model, we use specialized </a:t>
            </a:r>
            <a:r>
              <a:rPr lang="en-US" altLang="zh-CN" b="1" dirty="0"/>
              <a:t>Agent Groups</a:t>
            </a:r>
            <a:r>
              <a:rPr lang="en-US" altLang="zh-CN" dirty="0"/>
              <a:t>—like 'Interview' or 'Literature Search'—each containing sub-agents for specific tasks.</a:t>
            </a:r>
          </a:p>
          <a:p>
            <a:r>
              <a:rPr lang="en-US" altLang="zh-CN" dirty="0"/>
              <a:t>Crucially, we implemented </a:t>
            </a:r>
            <a:r>
              <a:rPr lang="en-US" altLang="zh-CN" b="1" dirty="0"/>
              <a:t>Externalized Prompt Management</a:t>
            </a:r>
            <a:r>
              <a:rPr lang="en-US" altLang="zh-CN" dirty="0"/>
              <a:t>. We separate the </a:t>
            </a:r>
            <a:r>
              <a:rPr lang="en-US" altLang="zh-CN" b="1" dirty="0"/>
              <a:t>code logic</a:t>
            </a:r>
            <a:r>
              <a:rPr lang="en-US" altLang="zh-CN" dirty="0"/>
              <a:t> from the </a:t>
            </a:r>
            <a:r>
              <a:rPr lang="en-US" altLang="zh-CN" b="1" dirty="0"/>
              <a:t>prompt instructions</a:t>
            </a:r>
            <a:r>
              <a:rPr lang="en-US" altLang="zh-CN" dirty="0"/>
              <a:t>, storing all prompts in external JSON files. This ensures our system is not just a demo, but a robust, maintainable software framework.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67FAF-04B3-4E13-852D-00B5DE746AE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68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1627A-5473-610D-A58F-B0616C5CC5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Empathy Scales</a:t>
            </a:r>
            <a:br>
              <a:rPr lang="en-US" altLang="zh-CN" dirty="0"/>
            </a:br>
            <a:r>
              <a:rPr lang="en-US" altLang="zh-CN" sz="4000" dirty="0"/>
              <a:t>A Multi-Agent LLM-Based Empathy Assessment Scale Generation System for Robots.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02F1CD-D6E5-6B18-BDE8-A0AAFC91E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0165"/>
            <a:ext cx="9144000" cy="1655762"/>
          </a:xfrm>
        </p:spPr>
        <p:txBody>
          <a:bodyPr/>
          <a:lstStyle/>
          <a:p>
            <a:r>
              <a:rPr lang="en-US" altLang="zh-CN" dirty="0"/>
              <a:t>Group 1 </a:t>
            </a:r>
          </a:p>
          <a:p>
            <a:r>
              <a:rPr lang="en-US" altLang="zh-CN" dirty="0"/>
              <a:t>Payne Li</a:t>
            </a:r>
            <a:r>
              <a:rPr lang="zh-CN" altLang="en-US" dirty="0"/>
              <a:t>； </a:t>
            </a:r>
            <a:r>
              <a:rPr lang="en-US" altLang="zh-CN" dirty="0" err="1"/>
              <a:t>Wentao</a:t>
            </a:r>
            <a:r>
              <a:rPr lang="en-US" altLang="zh-CN" dirty="0"/>
              <a:t> Zhao</a:t>
            </a:r>
            <a:r>
              <a:rPr lang="zh-CN" altLang="en-US" dirty="0"/>
              <a:t>；</a:t>
            </a:r>
            <a:r>
              <a:rPr lang="en-US" altLang="zh-CN" dirty="0" err="1"/>
              <a:t>Donghua</a:t>
            </a:r>
            <a:r>
              <a:rPr lang="en-US" altLang="zh-CN" dirty="0"/>
              <a:t> Cai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653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23FE3-F649-871E-6FD2-A19E359C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Empathy Scales- Intuition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9602A9-FDE1-23A8-5E7D-74F4CEEC8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0825"/>
            <a:ext cx="10515600" cy="4351338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Robot Empathy </a:t>
            </a:r>
            <a:r>
              <a:rPr lang="en-US" altLang="zh-CN" dirty="0"/>
              <a:t>is not about </a:t>
            </a:r>
            <a:r>
              <a:rPr lang="en-US" altLang="zh-CN" i="1" dirty="0"/>
              <a:t>having</a:t>
            </a:r>
            <a:r>
              <a:rPr lang="en-US" altLang="zh-CN" dirty="0"/>
              <a:t> feelings, but the ability to perceive human states and adapt behavior. </a:t>
            </a:r>
          </a:p>
          <a:p>
            <a:r>
              <a:rPr lang="en-US" altLang="zh-CN" dirty="0"/>
              <a:t>Demonstrate empathy is critical for trust and effective collaboration.</a:t>
            </a:r>
          </a:p>
          <a:p>
            <a:r>
              <a:rPr lang="en-US" altLang="zh-CN" b="1" dirty="0"/>
              <a:t>How can we quantitatively measure this empathy</a:t>
            </a:r>
            <a:r>
              <a:rPr lang="zh-CN" altLang="en-US" b="1" dirty="0"/>
              <a:t>？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A98B000C-F0D7-268A-6104-5D8A980941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72" y="3772762"/>
            <a:ext cx="4854873" cy="2648113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EF4A5186-E9CF-C7C1-EC9E-2F94FFE6B1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030" y="3772761"/>
            <a:ext cx="4854873" cy="264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8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F6549-5076-3076-C24B-FCD6DB7B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Related Work &amp; Problem Statement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B89498-DA9A-593B-6E55-2ED5032E9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28" y="1690688"/>
            <a:ext cx="8296072" cy="382554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b="1" dirty="0"/>
              <a:t>Perceived Empathy</a:t>
            </a:r>
            <a:r>
              <a:rPr lang="en-US" altLang="zh-CN" sz="2400" dirty="0"/>
              <a:t> = Human-Robot Interaction + Subjective Feedback</a:t>
            </a:r>
            <a:endParaRPr lang="zh-CN" altLang="en-US" sz="24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B86CEFA-9FA0-03F7-7AD8-A01922344C82}"/>
              </a:ext>
            </a:extLst>
          </p:cNvPr>
          <p:cNvSpPr txBox="1">
            <a:spLocks/>
          </p:cNvSpPr>
          <p:nvPr/>
        </p:nvSpPr>
        <p:spPr>
          <a:xfrm>
            <a:off x="110228" y="2517343"/>
            <a:ext cx="8195572" cy="1444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Existing Scales: </a:t>
            </a:r>
            <a:r>
              <a:rPr lang="en-US" altLang="zh-CN" sz="2400" dirty="0"/>
              <a:t>Too Generic</a:t>
            </a:r>
          </a:p>
          <a:p>
            <a:pPr marL="0" indent="0">
              <a:buNone/>
            </a:pPr>
            <a:r>
              <a:rPr lang="en-US" altLang="zh-CN" sz="2400" dirty="0"/>
              <a:t>PETS</a:t>
            </a:r>
            <a:r>
              <a:rPr lang="it-IT" altLang="zh-CN" sz="2400" dirty="0"/>
              <a:t>(Schmidmaier et al., CHI 2024, based on 9-Step)</a:t>
            </a:r>
          </a:p>
          <a:p>
            <a:pPr marL="0" indent="0">
              <a:buNone/>
            </a:pPr>
            <a:r>
              <a:rPr lang="en-US" altLang="zh-CN" sz="2400" dirty="0" err="1"/>
              <a:t>RoPE</a:t>
            </a:r>
            <a:r>
              <a:rPr lang="en-US" altLang="zh-CN" sz="2400" dirty="0"/>
              <a:t>(Charrier et al., HRI 2019, based on Human scales)</a:t>
            </a:r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CEA5DC9-F5B7-CA65-7D93-0C7F1256BBEC}"/>
              </a:ext>
            </a:extLst>
          </p:cNvPr>
          <p:cNvSpPr txBox="1">
            <a:spLocks/>
          </p:cNvSpPr>
          <p:nvPr/>
        </p:nvSpPr>
        <p:spPr>
          <a:xfrm>
            <a:off x="110228" y="4236217"/>
            <a:ext cx="6747772" cy="170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Classic  Methods: </a:t>
            </a:r>
            <a:r>
              <a:rPr lang="en-US" altLang="zh-CN" sz="2400" dirty="0"/>
              <a:t>Too Slow</a:t>
            </a:r>
          </a:p>
          <a:p>
            <a:pPr marL="0" indent="0">
              <a:buNone/>
            </a:pPr>
            <a:r>
              <a:rPr lang="en-US" altLang="zh-CN" sz="2400" dirty="0"/>
              <a:t>Boateng Nine-Step Method(Boateng et al., 2018)</a:t>
            </a:r>
          </a:p>
          <a:p>
            <a:pPr marL="0" indent="0">
              <a:buNone/>
            </a:pPr>
            <a:r>
              <a:rPr lang="en-US" altLang="zh-CN" sz="2400" i="1" dirty="0"/>
              <a:t>involving too many human participants</a:t>
            </a:r>
            <a:endParaRPr lang="zh-CN" altLang="en-US" sz="2400" i="1" dirty="0"/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F0C2AF12-F95C-CB99-D68D-A54F8886D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078" y="1443623"/>
            <a:ext cx="3292231" cy="1795763"/>
          </a:xfrm>
          <a:prstGeom prst="rect">
            <a:avLst/>
          </a:prstGeom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6ED9CEFD-5AD5-44F5-14CD-D9BD50F76D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744" y="3284772"/>
            <a:ext cx="4885565" cy="2664853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4F2244B-16A0-7844-201D-60C839E76189}"/>
              </a:ext>
            </a:extLst>
          </p:cNvPr>
          <p:cNvSpPr txBox="1">
            <a:spLocks/>
          </p:cNvSpPr>
          <p:nvPr/>
        </p:nvSpPr>
        <p:spPr>
          <a:xfrm>
            <a:off x="215735" y="6048367"/>
            <a:ext cx="11138065" cy="488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i="1" dirty="0"/>
              <a:t>OURS: </a:t>
            </a:r>
            <a:r>
              <a:rPr lang="en-US" altLang="zh-CN" sz="2400" b="1" dirty="0"/>
              <a:t>high-quality, scenario-specific empathy scales through Multi-Agent LLM</a:t>
            </a:r>
            <a:endParaRPr lang="zh-CN" alt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5399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97318-BD76-3114-53C3-31A8418BF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6381"/>
            <a:ext cx="10515600" cy="1325563"/>
          </a:xfrm>
        </p:spPr>
        <p:txBody>
          <a:bodyPr/>
          <a:lstStyle/>
          <a:p>
            <a:r>
              <a:rPr lang="en-US" altLang="zh-CN" dirty="0"/>
              <a:t>Framework &amp; Workflow</a:t>
            </a:r>
            <a:endParaRPr lang="zh-CN" altLang="en-US" dirty="0"/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D1907B0B-A26A-BE8A-1E67-51F419844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0"/>
          <a:stretch>
            <a:fillRect/>
          </a:stretch>
        </p:blipFill>
        <p:spPr>
          <a:xfrm>
            <a:off x="212728" y="960582"/>
            <a:ext cx="11766543" cy="567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81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FB2-DAD0-4973-B372-2F27C67A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BF4E-CC2F-C1A5-68C4-9FC61905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6381"/>
            <a:ext cx="10515600" cy="1325563"/>
          </a:xfrm>
        </p:spPr>
        <p:txBody>
          <a:bodyPr/>
          <a:lstStyle/>
          <a:p>
            <a:r>
              <a:rPr lang="en-US" altLang="zh-CN" dirty="0"/>
              <a:t>Framework &amp; Workflow</a:t>
            </a:r>
            <a:endParaRPr lang="zh-CN" altLang="en-US" dirty="0"/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EA71F10-F248-3323-16C7-DB9E5A402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84738"/>
            <a:ext cx="10178227" cy="55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8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55DE9-BAC5-D213-B2A1-B71D0E87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altLang="zh-CN" dirty="0"/>
              <a:t>Experimental Setup - Scenarios</a:t>
            </a:r>
            <a:endParaRPr lang="zh-CN" altLang="en-US" dirty="0"/>
          </a:p>
        </p:txBody>
      </p:sp>
      <p:pic>
        <p:nvPicPr>
          <p:cNvPr id="5" name="内容占位符 4" descr="日程表&#10;&#10;AI 生成的内容可能不正确。">
            <a:extLst>
              <a:ext uri="{FF2B5EF4-FFF2-40B4-BE49-F238E27FC236}">
                <a16:creationId xmlns:a16="http://schemas.microsoft.com/office/drawing/2014/main" id="{ED72F075-4D49-0106-CF9D-4C3D27AFF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36"/>
          <a:stretch>
            <a:fillRect/>
          </a:stretch>
        </p:blipFill>
        <p:spPr>
          <a:xfrm>
            <a:off x="414568" y="1220140"/>
            <a:ext cx="11362863" cy="5637860"/>
          </a:xfrm>
        </p:spPr>
      </p:pic>
    </p:spTree>
    <p:extLst>
      <p:ext uri="{BB962C8B-B14F-4D97-AF65-F5344CB8AC3E}">
        <p14:creationId xmlns:p14="http://schemas.microsoft.com/office/powerpoint/2010/main" val="2502253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0F763-9742-F98C-F6D7-76ACC4B7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E26B7-1016-F0F6-FD9B-187AE71C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92219"/>
            <a:ext cx="10439400" cy="1325563"/>
          </a:xfrm>
        </p:spPr>
        <p:txBody>
          <a:bodyPr/>
          <a:lstStyle/>
          <a:p>
            <a:r>
              <a:rPr lang="en-US" altLang="zh-CN" dirty="0"/>
              <a:t>Performance Benchmark: </a:t>
            </a:r>
            <a:br>
              <a:rPr lang="en-US" altLang="zh-CN" dirty="0"/>
            </a:br>
            <a:r>
              <a:rPr lang="en-US" altLang="zh-CN" dirty="0"/>
              <a:t>Outperforming the Gold Standard</a:t>
            </a:r>
            <a:endParaRPr lang="zh-CN" altLang="en-US" dirty="0"/>
          </a:p>
        </p:txBody>
      </p:sp>
      <p:pic>
        <p:nvPicPr>
          <p:cNvPr id="15" name="图片 14" descr="图片包含 图表&#10;&#10;AI 生成的内容可能不正确。">
            <a:extLst>
              <a:ext uri="{FF2B5EF4-FFF2-40B4-BE49-F238E27FC236}">
                <a16:creationId xmlns:a16="http://schemas.microsoft.com/office/drawing/2014/main" id="{3F34B844-C48F-3C18-BC39-A2A101779B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6"/>
          <a:stretch>
            <a:fillRect/>
          </a:stretch>
        </p:blipFill>
        <p:spPr>
          <a:xfrm>
            <a:off x="254000" y="1320800"/>
            <a:ext cx="11430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6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7458A-29CC-54DC-8CFA-0BA1DC09D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38" y="0"/>
            <a:ext cx="10515600" cy="1325563"/>
          </a:xfrm>
        </p:spPr>
        <p:txBody>
          <a:bodyPr/>
          <a:lstStyle/>
          <a:p>
            <a:r>
              <a:rPr lang="en-US" altLang="zh-CN" dirty="0"/>
              <a:t>Item Comparison: (A Qualitative Look)</a:t>
            </a:r>
            <a:br>
              <a:rPr lang="en-US" altLang="zh-CN" dirty="0"/>
            </a:br>
            <a:r>
              <a:rPr lang="en-US" altLang="zh-CN" dirty="0"/>
              <a:t>Why Scenario-Specific Scales Matter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086683-E9B8-4B26-8D9D-C49606B27F1E}"/>
              </a:ext>
            </a:extLst>
          </p:cNvPr>
          <p:cNvSpPr txBox="1"/>
          <p:nvPr/>
        </p:nvSpPr>
        <p:spPr>
          <a:xfrm>
            <a:off x="4809253" y="1225689"/>
            <a:ext cx="713600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OURS (Generated by MA-LLM) - Factory Context</a:t>
            </a:r>
            <a:r>
              <a:rPr lang="en-US" altLang="zh-CN" dirty="0"/>
              <a:t> </a:t>
            </a:r>
          </a:p>
          <a:p>
            <a:r>
              <a:rPr lang="en-US" altLang="zh-CN" i="1" dirty="0"/>
              <a:t>Focus: Concrete actions, safety, and task collaboration</a:t>
            </a:r>
            <a:endParaRPr lang="en-US" altLang="zh-CN" dirty="0"/>
          </a:p>
          <a:p>
            <a:r>
              <a:rPr lang="en-US" altLang="zh-CN" b="1" dirty="0"/>
              <a:t>### Proactive Support and Guidance (11 items)</a:t>
            </a:r>
          </a:p>
          <a:p>
            <a:r>
              <a:rPr lang="en-US" altLang="zh-CN" dirty="0"/>
              <a:t>- Item 1: The robot </a:t>
            </a:r>
            <a:r>
              <a:rPr lang="en-US" altLang="zh-CN" b="1" dirty="0">
                <a:solidFill>
                  <a:srgbClr val="FF0000"/>
                </a:solidFill>
              </a:rPr>
              <a:t>proactively suggested solutions to problems.</a:t>
            </a:r>
          </a:p>
          <a:p>
            <a:r>
              <a:rPr lang="en-US" altLang="zh-CN" dirty="0"/>
              <a:t>- Item 2: The robot provided timely help during complex tasks.</a:t>
            </a:r>
          </a:p>
          <a:p>
            <a:r>
              <a:rPr lang="en-US" altLang="zh-CN" dirty="0"/>
              <a:t>- Item 3: The robot checked in on my progress regularly.</a:t>
            </a:r>
          </a:p>
          <a:p>
            <a:r>
              <a:rPr lang="en-US" altLang="zh-CN" dirty="0"/>
              <a:t>- Item 4: The robot offered assistance without me needing to ask.</a:t>
            </a:r>
          </a:p>
          <a:p>
            <a:r>
              <a:rPr lang="en-US" altLang="zh-CN" dirty="0"/>
              <a:t>- Item 5: The robot helped me regain focus when I lost track.</a:t>
            </a:r>
          </a:p>
          <a:p>
            <a:r>
              <a:rPr lang="en-US" altLang="zh-CN" dirty="0"/>
              <a:t>- Item 6: The robot ensured I had everything I needed to succeed.</a:t>
            </a:r>
          </a:p>
          <a:p>
            <a:r>
              <a:rPr lang="en-US" altLang="zh-CN" dirty="0"/>
              <a:t>- Item 7: The robot's support made me </a:t>
            </a:r>
            <a:r>
              <a:rPr lang="en-US" altLang="zh-CN" b="1" dirty="0">
                <a:solidFill>
                  <a:srgbClr val="FF0000"/>
                </a:solidFill>
              </a:rPr>
              <a:t>feel safer at work.</a:t>
            </a:r>
          </a:p>
          <a:p>
            <a:r>
              <a:rPr lang="en-US" altLang="zh-CN" dirty="0"/>
              <a:t>- Item 8: The robot comprehended the specific tasks I prioritized.</a:t>
            </a:r>
          </a:p>
          <a:p>
            <a:r>
              <a:rPr lang="en-US" altLang="zh-CN" dirty="0"/>
              <a:t>- Item 9: The robot understood both my short-term and long-term goals.</a:t>
            </a:r>
          </a:p>
          <a:p>
            <a:r>
              <a:rPr lang="en-US" altLang="zh-CN" dirty="0"/>
              <a:t>- Item 10: The robot adapted its approach based on my feedback.</a:t>
            </a:r>
          </a:p>
          <a:p>
            <a:r>
              <a:rPr lang="en-US" altLang="zh-CN" dirty="0"/>
              <a:t>- Item 11: The robot interpreted my signals about task completion.</a:t>
            </a:r>
          </a:p>
          <a:p>
            <a:r>
              <a:rPr lang="en-US" altLang="zh-CN" b="1" dirty="0"/>
              <a:t>### Emotional Awareness and Support (5 items)</a:t>
            </a:r>
          </a:p>
          <a:p>
            <a:r>
              <a:rPr lang="en-US" altLang="zh-CN" dirty="0"/>
              <a:t>- Item 12: The robot's actions showed it understood my emotional state.</a:t>
            </a:r>
          </a:p>
          <a:p>
            <a:r>
              <a:rPr lang="en-US" altLang="zh-CN" dirty="0"/>
              <a:t>- Item 13: The robot showed awareness of my stress levels.</a:t>
            </a:r>
          </a:p>
          <a:p>
            <a:r>
              <a:rPr lang="en-US" altLang="zh-CN" dirty="0"/>
              <a:t>- Item 14: The robot </a:t>
            </a:r>
            <a:r>
              <a:rPr lang="en-US" altLang="zh-CN" b="1" dirty="0">
                <a:solidFill>
                  <a:srgbClr val="FF0000"/>
                </a:solidFill>
              </a:rPr>
              <a:t>recognized when I needed encouragement.</a:t>
            </a:r>
          </a:p>
          <a:p>
            <a:r>
              <a:rPr lang="en-US" altLang="zh-CN" dirty="0"/>
              <a:t>- Item 15: The robot's responses felt attuned to my mood.</a:t>
            </a:r>
          </a:p>
          <a:p>
            <a:r>
              <a:rPr lang="en-US" altLang="zh-CN" dirty="0"/>
              <a:t>- Item 16: The robot </a:t>
            </a:r>
            <a:r>
              <a:rPr lang="en-US" altLang="zh-CN" b="1" dirty="0">
                <a:solidFill>
                  <a:srgbClr val="FF0000"/>
                </a:solidFill>
              </a:rPr>
              <a:t>encouraged me to keep going when I hesitated.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B14D14-0DCE-8AC8-ED82-4F09F3354BC1}"/>
              </a:ext>
            </a:extLst>
          </p:cNvPr>
          <p:cNvSpPr txBox="1"/>
          <p:nvPr/>
        </p:nvSpPr>
        <p:spPr>
          <a:xfrm>
            <a:off x="324338" y="1325563"/>
            <a:ext cx="448491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PETS (CHI 2024) - General Purpose</a:t>
            </a:r>
            <a:r>
              <a:rPr lang="en-US" altLang="zh-CN" dirty="0"/>
              <a:t> </a:t>
            </a:r>
          </a:p>
          <a:p>
            <a:r>
              <a:rPr lang="en-US" altLang="zh-CN" i="1" dirty="0"/>
              <a:t>Focus: Broad emotional concepts &amp; general trust</a:t>
            </a:r>
          </a:p>
          <a:p>
            <a:br>
              <a:rPr lang="en-US" altLang="zh-CN" b="1" dirty="0"/>
            </a:br>
            <a:r>
              <a:rPr lang="en-US" altLang="zh-CN" b="1" dirty="0"/>
              <a:t>Factor 1: Emotional Responsiveness </a:t>
            </a:r>
          </a:p>
          <a:p>
            <a:r>
              <a:rPr lang="en-US" altLang="zh-CN" dirty="0"/>
              <a:t>E1: The system considered my mental state.</a:t>
            </a:r>
          </a:p>
          <a:p>
            <a:r>
              <a:rPr lang="en-US" altLang="zh-CN" dirty="0"/>
              <a:t>E2: The system seemed emotionally intelligent.</a:t>
            </a:r>
          </a:p>
          <a:p>
            <a:r>
              <a:rPr lang="en-US" altLang="zh-CN" dirty="0"/>
              <a:t>E3: The system expressed emotions.</a:t>
            </a:r>
          </a:p>
          <a:p>
            <a:r>
              <a:rPr lang="en-US" altLang="zh-CN" dirty="0"/>
              <a:t>E4: The system </a:t>
            </a:r>
            <a:r>
              <a:rPr lang="en-US" altLang="zh-CN" b="1" dirty="0">
                <a:solidFill>
                  <a:srgbClr val="FF0000"/>
                </a:solidFill>
              </a:rPr>
              <a:t>sympathized </a:t>
            </a:r>
            <a:r>
              <a:rPr lang="en-US" altLang="zh-CN" dirty="0"/>
              <a:t>with me.</a:t>
            </a:r>
          </a:p>
          <a:p>
            <a:r>
              <a:rPr lang="en-US" altLang="zh-CN" dirty="0"/>
              <a:t>E5: The system </a:t>
            </a:r>
            <a:r>
              <a:rPr lang="en-US" altLang="zh-CN" b="1" dirty="0">
                <a:solidFill>
                  <a:srgbClr val="FF0000"/>
                </a:solidFill>
              </a:rPr>
              <a:t>showed interest </a:t>
            </a:r>
            <a:r>
              <a:rPr lang="en-US" altLang="zh-CN" dirty="0"/>
              <a:t>in me.</a:t>
            </a:r>
          </a:p>
          <a:p>
            <a:r>
              <a:rPr lang="en-US" altLang="zh-CN" dirty="0"/>
              <a:t>E6: The system supported me in coping with an emotional situation.</a:t>
            </a:r>
          </a:p>
          <a:p>
            <a:r>
              <a:rPr lang="en-US" altLang="zh-CN" b="1" dirty="0"/>
              <a:t>Factor 2: Understanding and Trust </a:t>
            </a:r>
          </a:p>
          <a:p>
            <a:r>
              <a:rPr lang="en-US" altLang="zh-CN" dirty="0"/>
              <a:t>U1: The system understood my goals.</a:t>
            </a:r>
          </a:p>
          <a:p>
            <a:r>
              <a:rPr lang="en-US" altLang="zh-CN" dirty="0"/>
              <a:t>U2: The system understood my needs.</a:t>
            </a:r>
          </a:p>
          <a:p>
            <a:r>
              <a:rPr lang="en-US" altLang="zh-CN" dirty="0"/>
              <a:t>U3: I trusted the system.</a:t>
            </a:r>
          </a:p>
          <a:p>
            <a:r>
              <a:rPr lang="en-US" altLang="zh-CN" dirty="0"/>
              <a:t>U4: The system understood my intentions.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396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FE93-ED88-1055-87A7-B1B513F4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2B4AE-7F1E-E385-97EF-F1C35361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92219"/>
            <a:ext cx="11061700" cy="1325563"/>
          </a:xfrm>
        </p:spPr>
        <p:txBody>
          <a:bodyPr/>
          <a:lstStyle/>
          <a:p>
            <a:r>
              <a:rPr lang="en-US" altLang="zh-CN" dirty="0"/>
              <a:t>Mechanism &amp; Output: Why Complexity Matters</a:t>
            </a:r>
            <a:endParaRPr lang="zh-CN" altLang="en-US" dirty="0"/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158C86B-D8F6-6DBC-62C1-9BDAA50B4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0"/>
          <a:stretch>
            <a:fillRect/>
          </a:stretch>
        </p:blipFill>
        <p:spPr>
          <a:xfrm>
            <a:off x="0" y="1166091"/>
            <a:ext cx="12192000" cy="569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33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57663-51FD-4942-23E6-6191043C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Insights &amp; Limitations </a:t>
            </a:r>
            <a:endParaRPr lang="zh-CN" altLang="en-US" b="1" dirty="0"/>
          </a:p>
        </p:txBody>
      </p:sp>
      <p:pic>
        <p:nvPicPr>
          <p:cNvPr id="5" name="内容占位符 4" descr="表格&#10;&#10;AI 生成的内容可能不正确。">
            <a:extLst>
              <a:ext uri="{FF2B5EF4-FFF2-40B4-BE49-F238E27FC236}">
                <a16:creationId xmlns:a16="http://schemas.microsoft.com/office/drawing/2014/main" id="{57094F37-5990-A1C7-726D-2556BD6C4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1"/>
          <a:stretch>
            <a:fillRect/>
          </a:stretch>
        </p:blipFill>
        <p:spPr>
          <a:xfrm>
            <a:off x="584847" y="1408906"/>
            <a:ext cx="11022306" cy="5083969"/>
          </a:xfrm>
        </p:spPr>
      </p:pic>
    </p:spTree>
    <p:extLst>
      <p:ext uri="{BB962C8B-B14F-4D97-AF65-F5344CB8AC3E}">
        <p14:creationId xmlns:p14="http://schemas.microsoft.com/office/powerpoint/2010/main" val="1648777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957AC-97BB-2772-ECB4-1427C6A9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 Work: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Refinement, Validation&amp; Stability</a:t>
            </a:r>
            <a:endParaRPr lang="zh-CN" altLang="en-US" dirty="0"/>
          </a:p>
        </p:txBody>
      </p:sp>
      <p:pic>
        <p:nvPicPr>
          <p:cNvPr id="5" name="内容占位符 4" descr="日程表&#10;&#10;AI 生成的内容可能不正确。">
            <a:extLst>
              <a:ext uri="{FF2B5EF4-FFF2-40B4-BE49-F238E27FC236}">
                <a16:creationId xmlns:a16="http://schemas.microsoft.com/office/drawing/2014/main" id="{85F3E257-5B2E-E560-85D9-9D95E7D3B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2"/>
          <a:stretch>
            <a:fillRect/>
          </a:stretch>
        </p:blipFill>
        <p:spPr>
          <a:xfrm>
            <a:off x="419100" y="1640278"/>
            <a:ext cx="11353799" cy="5217722"/>
          </a:xfrm>
        </p:spPr>
      </p:pic>
    </p:spTree>
    <p:extLst>
      <p:ext uri="{BB962C8B-B14F-4D97-AF65-F5344CB8AC3E}">
        <p14:creationId xmlns:p14="http://schemas.microsoft.com/office/powerpoint/2010/main" val="2777241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8C498-A710-F028-9273-188A8D79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693" y="2533894"/>
            <a:ext cx="52578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6600" dirty="0"/>
              <a:t>Thanks</a:t>
            </a:r>
            <a:r>
              <a:rPr lang="zh-CN" altLang="en-US" sz="6600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715047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40A6B-AA0C-4820-A673-91B649AD7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FF4CE9B0-FE43-AF4C-3982-A4E239C3B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3" y="1825625"/>
            <a:ext cx="7977453" cy="4351338"/>
          </a:xfrm>
        </p:spPr>
      </p:pic>
    </p:spTree>
    <p:extLst>
      <p:ext uri="{BB962C8B-B14F-4D97-AF65-F5344CB8AC3E}">
        <p14:creationId xmlns:p14="http://schemas.microsoft.com/office/powerpoint/2010/main" val="288265342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2258</Words>
  <Application>Microsoft Office PowerPoint</Application>
  <PresentationFormat>宽屏</PresentationFormat>
  <Paragraphs>120</Paragraphs>
  <Slides>13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Arial</vt:lpstr>
      <vt:lpstr>Calibri</vt:lpstr>
      <vt:lpstr>WPS</vt:lpstr>
      <vt:lpstr>Empathy Scales A Multi-Agent LLM-Based Empathy Assessment Scale Generation System for Robots.</vt:lpstr>
      <vt:lpstr>Empathy Scales- Intuition</vt:lpstr>
      <vt:lpstr>Related Work &amp; Problem Statement</vt:lpstr>
      <vt:lpstr>Framework &amp; Workflow</vt:lpstr>
      <vt:lpstr>Framework &amp; Workflow</vt:lpstr>
      <vt:lpstr>Experimental Setup - Scenarios</vt:lpstr>
      <vt:lpstr>Performance Benchmark:  Outperforming the Gold Standard</vt:lpstr>
      <vt:lpstr>Item Comparison: (A Qualitative Look) Why Scenario-Specific Scales Matter</vt:lpstr>
      <vt:lpstr>Mechanism &amp; Output: Why Complexity Matters</vt:lpstr>
      <vt:lpstr>Key Insights &amp; Limitations </vt:lpstr>
      <vt:lpstr>Future Work:  Refinement, Validation&amp; Stability</vt:lpstr>
      <vt:lpstr>Thanks！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李沛岩</dc:creator>
  <cp:lastModifiedBy>沛岩 李</cp:lastModifiedBy>
  <cp:revision>10</cp:revision>
  <dcterms:created xsi:type="dcterms:W3CDTF">2023-08-09T12:44:00Z</dcterms:created>
  <dcterms:modified xsi:type="dcterms:W3CDTF">2025-12-24T12:21:47Z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